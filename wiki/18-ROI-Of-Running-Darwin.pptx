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wiki\18-ROI-Of-Running-Darwin.md</a:t>
            </a:r>
          </a:p>
          <a:p>
            <a:r>
              <a:t>Executive summary</a:t>
            </a:r>
          </a:p>
          <a:p/>
          <a:p>
            <a:r>
              <a:t>Key selling point: engineering leverage, not just marginal API savings. Automation accelerates search while engineers retain review and validation responsibility.</a:t>
            </a:r>
          </a:p>
          <a:p/>
          <a:p>
            <a:r>
              <a:t>All prices, effort budgets and future run volumes are illustrative, not verified current quotes. Measured performance results come from wiki\11-Darwin-Token-Optimization.md and wiki\12-Darwin-Warehouse-Build-Speedup.md.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wiki\18-ROI-Of-Running-Darwin.md</a:t>
            </a:r>
          </a:p>
          <a:p>
            <a:r>
              <a:t>Executive summary; validation reports</a:t>
            </a:r>
          </a:p>
          <a:p/>
          <a:p>
            <a:r>
              <a:t>Darwin automates exploration of candidate improvements. The warehouse experiment evaluates equivalence for the materialized tables; narration compaction preserves deterministic outputs. These checks are scoped, not proof of every possible behavioral property.</a:t>
            </a:r>
          </a:p>
          <a:p/>
          <a:p>
            <a:r>
              <a:t>All prices, effort budgets and future run volumes are illustrative, not verified current quotes. Measured performance results come from wiki\11-Darwin-Token-Optimization.md and wiki\12-Darwin-Warehouse-Build-Speedup.md.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wiki\18-ROI-Of-Running-Darwin.md</a:t>
            </a:r>
          </a:p>
          <a:p>
            <a:r>
              <a:t>Part 2; warehouse benchmark (wiki page 12)</a:t>
            </a:r>
          </a:p>
          <a:p/>
          <a:p>
            <a:r>
              <a:t>Ten paired cold builds per version, after warm-up, on comparable hardware and data. Baseline mean 11.108 seconds; champion 3.582 seconds. Savings 7.526 seconds, reduction 67.753%. 95% speedup CI: 3.08x-3.12x. This is initialization/build duration, not per-query latency.</a:t>
            </a:r>
          </a:p>
          <a:p/>
          <a:p>
            <a:r>
              <a:t>All prices, effort budgets and future run volumes are illustrative, not verified current quotes. Measured performance results come from wiki\11-Darwin-Token-Optimization.md and wiki\12-Darwin-Warehouse-Build-Speedup.md.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wiki\18-ROI-Of-Running-Darwin.md</a:t>
            </a:r>
          </a:p>
          <a:p>
            <a:r>
              <a:t>Part 2, cumulative execution time</a:t>
            </a:r>
          </a:p>
          <a:p/>
          <a:p>
            <a:r>
              <a:t>Savings scale only with equivalent builds. Sums of execution durations are not necessarily calendar savings with parallel work. Human time is released only if a person is blocked.</a:t>
            </a:r>
          </a:p>
          <a:p/>
          <a:p>
            <a:r>
              <a:t>All prices, effort budgets and future run volumes are illustrative, not verified current quotes. Measured performance results come from wiki\11-Darwin-Token-Optimization.md and wiki\12-Darwin-Warehouse-Build-Speedup.md.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wiki\18-ROI-Of-Running-Darwin.md</a:t>
            </a:r>
          </a:p>
          <a:p>
            <a:r>
              <a:t>Part 2; token optimization (wiki page 11)</a:t>
            </a:r>
          </a:p>
          <a:p/>
          <a:p>
            <a:r>
              <a:t>The deterministic production plan, findings and KPIs are calculated before narration. Darwin compacts the narration-only representation, dropping unnecessary detail. Measured token reduction is not a narration-quality evaluation.</a:t>
            </a:r>
          </a:p>
          <a:p/>
          <a:p>
            <a:r>
              <a:t>All prices, effort budgets and future run volumes are illustrative, not verified current quotes. Measured performance results come from wiki\11-Darwin-Token-Optimization.md and wiki\12-Darwin-Warehouse-Build-Speedup.md.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wiki\18-ROI-Of-Running-Darwin.md</a:t>
            </a:r>
          </a:p>
          <a:p>
            <a:r>
              <a:t>Part 2, narrator comparison</a:t>
            </a:r>
          </a:p>
          <a:p/>
          <a:p>
            <a:r>
              <a:t>These tiers refer only to the narrator, not Darwin's search model or the deterministic optimizer. Budget example in the document: gpt-4o-mini. Premium is a hypothetical $3/M input tier. Prices are assumptions, not verified quotes. Output, hosting and optimizer compute are excluded.</a:t>
            </a:r>
          </a:p>
          <a:p/>
          <a:p>
            <a:r>
              <a:t>All prices, effort budgets and future run volumes are illustrative, not verified current quotes. Measured performance results come from wiki\11-Darwin-Token-Optimization.md and wiki\12-Darwin-Warehouse-Build-Speedup.md.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wiki\18-ROI-Of-Running-Darwin.md</a:t>
            </a:r>
          </a:p>
          <a:p>
            <a:r>
              <a:t>Part 1, combined investment</a:t>
            </a:r>
          </a:p>
          <a:p/>
          <a:p>
            <a:r>
              <a:t>8 hours includes setup, supervision, code review, benchmark checks and correctness validation. It is not unattended runtime. $60 build search is rounded from $56.91 modeled LLM spend plus compute. $40 token search is estimated. Future reruns or maintenance require extra budget.</a:t>
            </a:r>
          </a:p>
          <a:p/>
          <a:p>
            <a:r>
              <a:t>All prices, effort budgets and future run volumes are illustrative, not verified current quotes. Measured performance results come from wiki\11-Darwin-Token-Optimization.md and wiki\12-Darwin-Warehouse-Build-Speedup.md.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wiki\18-ROI-Of-Running-Darwin.md</a:t>
            </a:r>
          </a:p>
          <a:p>
            <a:r>
              <a:t>Part 1, manual vs. Darwin-assisted optimization</a:t>
            </a:r>
          </a:p>
          <a:p/>
          <a:p>
            <a:r>
              <a:t>Both budgets cover SQL and narration work, including profiling, implementation, review and validation. 40 versus 8 hours are user-selected assumptions, not measured productivity. Manual non-labor expenses are unestimated. Cost parity is $700/$75 = 9 hours 20 minutes of manual effort.</a:t>
            </a:r>
          </a:p>
          <a:p/>
          <a:p>
            <a:r>
              <a:t>All prices, effort budgets and future run volumes are illustrative, not verified current quotes. Measured performance results come from wiki\11-Darwin-Token-Optimization.md and wiki\12-Darwin-Warehouse-Build-Speedup.md.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wiki\18-ROI-Of-Running-Darwin.md</a:t>
            </a:r>
          </a:p>
          <a:p>
            <a:r>
              <a:t>Part 4, engineering-inclusive ROI</a:t>
            </a:r>
          </a:p>
          <a:p/>
          <a:p>
            <a:r>
              <a:t>Build benefit = 5000*7.526*75/3600 = $783.9583. Premium token benefit = 10000*5968*3/1e6 = $179.04; budget = $8.952. Total benefits $962.9983 and $792.9103. ROI=(annual benefit-700)/700. Payback=700/annual benefit*12, at steady usage.</a:t>
            </a:r>
          </a:p>
          <a:p/>
          <a:p>
            <a:r>
              <a:t>All prices, effort budgets and future run volumes are illustrative, not verified current quotes. Measured performance results come from wiki\11-Darwin-Token-Optimization.md and wiki\12-Darwin-Warehouse-Build-Speedup.md.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wiki\18-ROI-Of-Running-Darwin.md</a:t>
            </a:r>
          </a:p>
          <a:p>
            <a:r>
              <a:t>Parts 2 and 4</a:t>
            </a:r>
          </a:p>
          <a:p/>
          <a:p>
            <a:r>
              <a:t>At 5000 builds and 10000 runs annually, one-vCPU compute-only savings are $2.09056. Adding token input savings gives premium $181.13056 or budget $11.04256. Do not count both developer wait-time and compute valuation for the same build in this ROI model.</a:t>
            </a:r>
          </a:p>
          <a:p/>
          <a:p>
            <a:r>
              <a:t>All prices, effort budgets and future run volumes are illustrative, not verified current quotes. Measured performance results come from wiki\11-Darwin-Token-Optimization.md and wiki\12-Darwin-Warehouse-Build-Speedup.md.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wiki\18-ROI-Of-Running-Darwin.md</a:t>
            </a:r>
          </a:p>
          <a:p>
            <a:r>
              <a:t>Part 4, allocating the investment</a:t>
            </a:r>
          </a:p>
          <a:p/>
          <a:p>
            <a:r>
              <a:t>This allocates both experiments entirely over 10000 agent runs. Do not allocate the same cost again to builds. It is not a recurring API charge or the end-to-end cost of an agent run. General formula: $700/N. Output, optimizer compute and hosting remain excluded.</a:t>
            </a:r>
          </a:p>
          <a:p/>
          <a:p>
            <a:r>
              <a:t>All prices, effort budgets and future run volumes are illustrative, not verified current quotes. Measured performance results come from wiki\11-Darwin-Token-Optimization.md and wiki\12-Darwin-Warehouse-Build-Speedup.md.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wiki\18-ROI-Of-Running-Darwin.md</a:t>
            </a:r>
          </a:p>
          <a:p>
            <a:r>
              <a:t>Executive summary; sensitivity</a:t>
            </a:r>
          </a:p>
          <a:p/>
          <a:p>
            <a:r>
              <a:t>The engineering comparison and runtime ROI have different counterfactuals. Do not add $2300 manual cost avoidance to the annual benefits against unoptimized code. Select measurable workloads, define correctness gates and track actual engineering effort.</a:t>
            </a:r>
          </a:p>
          <a:p/>
          <a:p>
            <a:r>
              <a:t>All prices, effort budgets and future run volumes are illustrative, not verified current quotes. Measured performance results come from wiki\11-Darwin-Token-Optimization.md and wiki\12-Darwin-Warehouse-Build-Speedup.md.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wiki\18-ROI-Of-Running-Darwin.md</a:t>
            </a:r>
          </a:p>
          <a:p>
            <a:r>
              <a:t>Parts 1 and 3</a:t>
            </a:r>
          </a:p>
          <a:p/>
          <a:p>
            <a:r>
              <a:t>Warehouse search: 3.4M fresh tokens at $3/M = $10.20; 83.2M cache-read at $0.30/M = $24.96; 1.45M output at $15/M = $21.75. Total $56.91, rounded to ~$60 with compute. Narration search ~$40 is an estimate without a spend table. Break-even figures below are the document's approximate API/compute-only values, not engineering-inclusive payback.</a:t>
            </a:r>
          </a:p>
          <a:p/>
          <a:p>
            <a:r>
              <a:t>All prices, effort budgets and future run volumes are illustrative, not verified current quotes. Measured performance results come from wiki\11-Darwin-Token-Optimization.md and wiki\12-Darwin-Warehouse-Build-Speedup.md.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wiki\18-ROI-Of-Running-Darwin.md</a:t>
            </a:r>
          </a:p>
          <a:p>
            <a:r>
              <a:t>Source: wiki/18-ROI-Of-Running-Darwin.md</a:t>
            </a:r>
          </a:p>
          <a:p/>
          <a:p>
            <a:r>
              <a:t>Primary source: wiki\18-ROI-Of-Running-Darwin.md, snapshot 5 October 2026. Evidence: wiki\12-Darwin-Warehouse-Build-Speedup.md and wiki\11-Darwin-Token-Optimization.md. This briefing summarizes the document; it is not a live calculator or a vendor price quote.</a:t>
            </a:r>
          </a:p>
          <a:p/>
          <a:p>
            <a:r>
              <a:t>All prices, effort budgets and future run volumes are illustrative, not verified current quotes. Measured performance results come from wiki\11-Darwin-Token-Optimization.md and wiki\12-Darwin-Warehouse-Build-Speedup.md.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2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5AF64"/>
                </a:solidFill>
                <a:latin typeface="Calibri"/>
              </a:defRPr>
            </a:pPr>
            <a:r>
              <a:t>EXECUTIVE BRIEFING |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7F2E9"/>
                </a:solidFill>
                <a:latin typeface="Georgia"/>
              </a:defRPr>
            </a:pPr>
            <a:r>
              <a:t>Darwin: optimize once.</a:t>
            </a:r>
          </a:p>
          <a:p>
            <a:pPr>
              <a:spcAft>
                <a:spcPts val="800"/>
              </a:spcAft>
              <a:defRPr sz="3400" b="1">
                <a:solidFill>
                  <a:srgbClr val="F7F2E9"/>
                </a:solidFill>
                <a:latin typeface="Georgia"/>
              </a:defRPr>
            </a:pPr>
            <a:r>
              <a:t>Reuse the gains.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E8DBCA"/>
                </a:solidFill>
                <a:latin typeface="Calibri"/>
              </a:defRPr>
            </a:pPr>
            <a:r>
              <a:t>COFFEE CAPSULE OPTIMIZER  |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4593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F7F2E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F7F2E9"/>
                </a:solidFill>
                <a:latin typeface="Calibri"/>
              </a:defRPr>
            </a:pPr>
            <a:r>
              <a:t>Less manual experimentation. Faster SQL builds.</a:t>
            </a:r>
          </a:p>
          <a:p>
            <a:pPr>
              <a:spcAft>
                <a:spcPts val="800"/>
              </a:spcAft>
              <a:defRPr sz="2500" b="0">
                <a:solidFill>
                  <a:srgbClr val="F7F2E9"/>
                </a:solidFill>
                <a:latin typeface="Calibri"/>
              </a:defRPr>
            </a:pPr>
            <a:r>
              <a:t>Lower narration input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01568"/>
            <a:ext cx="3502152" cy="2331720"/>
          </a:xfrm>
          <a:prstGeom prst="roundRect">
            <a:avLst>
              <a:gd name="adj" fmla="val 12000"/>
            </a:avLst>
          </a:prstGeom>
          <a:solidFill>
            <a:srgbClr val="F7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3602736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38634B"/>
                </a:solidFill>
                <a:latin typeface="Calibri"/>
              </a:defRPr>
            </a:pPr>
            <a:r>
              <a:t>3.10x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462272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0251F"/>
                </a:solidFill>
                <a:latin typeface="Calibri"/>
              </a:defRPr>
            </a:pPr>
            <a:r>
              <a:t>Faster warehouse builds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07492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D6259"/>
                </a:solidFill>
                <a:latin typeface="Calibri"/>
              </a:defRPr>
            </a:pPr>
            <a:r>
              <a:t>MEASURED | controlled cold builds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3401568"/>
            <a:ext cx="3502152" cy="2331720"/>
          </a:xfrm>
          <a:prstGeom prst="roundRect">
            <a:avLst>
              <a:gd name="adj" fmla="val 12000"/>
            </a:avLst>
          </a:prstGeom>
          <a:solidFill>
            <a:srgbClr val="F7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3602736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38634B"/>
                </a:solidFill>
                <a:latin typeface="Calibri"/>
              </a:defRPr>
            </a:pPr>
            <a:r>
              <a:t>88.1%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4462272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0251F"/>
                </a:solidFill>
                <a:latin typeface="Calibri"/>
              </a:defRPr>
            </a:pPr>
            <a:r>
              <a:t>Fewer narration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507492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D6259"/>
                </a:solidFill>
                <a:latin typeface="Calibri"/>
              </a:defRPr>
            </a:pPr>
            <a:r>
              <a:t>MEASURED | input payload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3401568"/>
            <a:ext cx="3502152" cy="2331720"/>
          </a:xfrm>
          <a:prstGeom prst="roundRect">
            <a:avLst>
              <a:gd name="adj" fmla="val 12000"/>
            </a:avLst>
          </a:prstGeom>
          <a:solidFill>
            <a:srgbClr val="F7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602736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B65D35"/>
                </a:solidFill>
                <a:latin typeface="Calibri"/>
              </a:defRPr>
            </a:pPr>
            <a:r>
              <a:t>32 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462272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0251F"/>
                </a:solidFill>
                <a:latin typeface="Calibri"/>
              </a:defRPr>
            </a:pPr>
            <a:r>
              <a:t>Engineering effort avoided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07492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D6259"/>
                </a:solidFill>
                <a:latin typeface="Calibri"/>
              </a:defRPr>
            </a:pPr>
            <a:r>
              <a:t>ILLUSTRATIVE | 40 hr vs. 8 hr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634B"/>
                </a:solidFill>
                <a:latin typeface="Calibri"/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30251F"/>
                </a:solidFill>
                <a:latin typeface="Georgia"/>
              </a:defRPr>
            </a:pPr>
            <a:r>
              <a:t>The product is engineering leverage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D6259"/>
                </a:solidFill>
                <a:latin typeface="Calibri"/>
              </a:defRPr>
            </a:pPr>
            <a:r>
              <a:t>COFFEE CAPSULE OPTIMIZER  |  Executive summary; validation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4593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30251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25603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44144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B65D3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3639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634B"/>
                </a:solidFill>
                <a:latin typeface="Calibri"/>
              </a:defRPr>
            </a:pPr>
            <a:r>
              <a:t>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73075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Find the current bottleneck.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240280"/>
            <a:ext cx="25603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44144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B65D3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313639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634B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73075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Benchmark candidate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40280"/>
            <a:ext cx="25603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4144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B65D3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3639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634B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73075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Check outputs; review the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240280"/>
            <a:ext cx="25603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244144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B65D3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313639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634B"/>
                </a:solidFill>
                <a:latin typeface="Calibri"/>
              </a:defRPr>
            </a:pPr>
            <a:r>
              <a:t>Reuse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373075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Apply gains to future runs.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68112"/>
            <a:ext cx="11064240" cy="576072"/>
          </a:xfrm>
          <a:prstGeom prst="roundRect">
            <a:avLst>
              <a:gd name="adj" fmla="val 12000"/>
            </a:avLst>
          </a:prstGeom>
          <a:solidFill>
            <a:srgbClr val="DA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577840"/>
            <a:ext cx="106619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634B"/>
                </a:solidFill>
                <a:latin typeface="Calibri"/>
              </a:defRPr>
            </a:pPr>
            <a:r>
              <a:t>Automate experimentation, not engineering accountability.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634B"/>
                </a:solidFill>
                <a:latin typeface="Calibri"/>
              </a:defRPr>
            </a:pPr>
            <a:r>
              <a:t>MEASURED | WAREHOUSE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30251F"/>
                </a:solidFill>
                <a:latin typeface="Georgia"/>
              </a:defRPr>
            </a:pPr>
            <a:r>
              <a:t>SQL results ready in 3.6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D6259"/>
                </a:solidFill>
                <a:latin typeface="Calibri"/>
              </a:defRPr>
            </a:pPr>
            <a:r>
              <a:t>COFFEE CAPSULE OPTIMIZER  |  Part 2; warehouse benchmark (wiki page 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4593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30251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0251F"/>
                </a:solidFill>
                <a:latin typeface="Calibri"/>
              </a:defRPr>
            </a:pPr>
            <a:r>
              <a:t>Cold warehouse-build 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Before Darwin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724912"/>
            <a:ext cx="5029200" cy="512064"/>
          </a:xfrm>
          <a:prstGeom prst="roundRect">
            <a:avLst>
              <a:gd name="adj" fmla="val 12000"/>
            </a:avLst>
          </a:prstGeom>
          <a:solidFill>
            <a:srgbClr val="B65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3355848"/>
            <a:ext cx="50292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B65D35"/>
                </a:solidFill>
                <a:latin typeface="Calibri"/>
              </a:defRPr>
            </a:pPr>
            <a:r>
              <a:t>11.108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1363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After Darwin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3913632"/>
            <a:ext cx="1621767" cy="512064"/>
          </a:xfrm>
          <a:prstGeom prst="roundRect">
            <a:avLst>
              <a:gd name="adj" fmla="val 12000"/>
            </a:avLst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544568"/>
            <a:ext cx="50292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8634B"/>
                </a:solidFill>
                <a:latin typeface="Calibri"/>
              </a:defRPr>
            </a:pPr>
            <a:r>
              <a:t>3.582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286000"/>
            <a:ext cx="3383280" cy="2633472"/>
          </a:xfrm>
          <a:prstGeom prst="roundRect">
            <a:avLst>
              <a:gd name="adj" fmla="val 12000"/>
            </a:avLst>
          </a:prstGeom>
          <a:solidFill>
            <a:srgbClr val="DA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2587752"/>
            <a:ext cx="28346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800" b="1">
                <a:solidFill>
                  <a:srgbClr val="38634B"/>
                </a:solidFill>
                <a:latin typeface="Calibri"/>
              </a:defRPr>
            </a:pPr>
            <a:r>
              <a:t>67.8%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6118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8634B"/>
                </a:solidFill>
                <a:latin typeface="Calibri"/>
              </a:defRPr>
            </a:pPr>
            <a:r>
              <a:t>less elapsed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429768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8634B"/>
                </a:solidFill>
                <a:latin typeface="Calibri"/>
              </a:defRPr>
            </a:pPr>
            <a:r>
              <a:t>7.526 seconds saved / 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68112"/>
            <a:ext cx="11064240" cy="576072"/>
          </a:xfrm>
          <a:prstGeom prst="roundRect">
            <a:avLst>
              <a:gd name="adj" fmla="val 12000"/>
            </a:avLst>
          </a:prstGeom>
          <a:solidFill>
            <a:srgbClr val="DA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577840"/>
            <a:ext cx="106619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634B"/>
                </a:solidFill>
                <a:latin typeface="Calibri"/>
              </a:defRPr>
            </a:pPr>
            <a:r>
              <a:t>Scope: warehouse initialization + SQL materialization, not every query or agent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634B"/>
                </a:solidFill>
                <a:latin typeface="Calibri"/>
              </a:defRPr>
            </a:pPr>
            <a:r>
              <a:t>TIME VALUE | SAME MEASURED WORKLOAD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30251F"/>
                </a:solidFill>
                <a:latin typeface="Georgia"/>
              </a:defRPr>
            </a:pPr>
            <a:r>
              <a:t>Seconds per build become hours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D6259"/>
                </a:solidFill>
                <a:latin typeface="Calibri"/>
              </a:defRPr>
            </a:pPr>
            <a:r>
              <a:t>COFFEE CAPSULE OPTIMIZER  |  Part 2, cumulative execution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4593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30251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228600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Builds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920240"/>
            <a:ext cx="274320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029968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920240"/>
            <a:ext cx="274320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029968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920240"/>
            <a:ext cx="329184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029968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Time saved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50592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69464"/>
            <a:ext cx="20116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450592"/>
            <a:ext cx="2743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569464"/>
            <a:ext cx="2468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18.51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450592"/>
            <a:ext cx="2743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2569464"/>
            <a:ext cx="2468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5.97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450592"/>
            <a:ext cx="3291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569464"/>
            <a:ext cx="30175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12.54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44952"/>
            <a:ext cx="2286000" cy="594360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163824"/>
            <a:ext cx="20116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1,000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044952"/>
            <a:ext cx="2743200" cy="594360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3163824"/>
            <a:ext cx="2468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185.13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044952"/>
            <a:ext cx="2743200" cy="594360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3163824"/>
            <a:ext cx="2468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59.70 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044952"/>
            <a:ext cx="3291840" cy="594360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163824"/>
            <a:ext cx="30175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2.09 hours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39312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758184"/>
            <a:ext cx="20116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5,000 / 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639312"/>
            <a:ext cx="2743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1800" y="3758184"/>
            <a:ext cx="2468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925.67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639312"/>
            <a:ext cx="2743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3758184"/>
            <a:ext cx="2468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298.50 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639312"/>
            <a:ext cx="3291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3758184"/>
            <a:ext cx="30175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10.45 hours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526280"/>
            <a:ext cx="5394960" cy="1353312"/>
          </a:xfrm>
          <a:prstGeom prst="roundRect">
            <a:avLst>
              <a:gd name="adj" fmla="val 12000"/>
            </a:avLst>
          </a:prstGeom>
          <a:solidFill>
            <a:srgbClr val="DA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69087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38634B"/>
                </a:solidFill>
                <a:latin typeface="Calibri"/>
              </a:defRPr>
            </a:pPr>
            <a:r>
              <a:t>$783.96 / year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49240"/>
            <a:ext cx="4937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8634B"/>
                </a:solidFill>
                <a:latin typeface="Calibri"/>
              </a:defRPr>
            </a:pPr>
            <a:r>
              <a:t>If saved waiting becomes useful work at $75/hr.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526280"/>
            <a:ext cx="539496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69087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B65D35"/>
                </a:solidFill>
                <a:latin typeface="Calibri"/>
              </a:defRPr>
            </a:pPr>
            <a:r>
              <a:t>$2.09 / year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349240"/>
            <a:ext cx="4937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0251F"/>
                </a:solidFill>
                <a:latin typeface="Calibri"/>
              </a:defRPr>
            </a:pPr>
            <a:r>
              <a:t>Compute only: one billed vCPU at $0.20/hr.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634B"/>
                </a:solidFill>
                <a:latin typeface="Calibri"/>
              </a:defRPr>
            </a:pPr>
            <a:r>
              <a:t>MEASURED | NARRATION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30251F"/>
                </a:solidFill>
                <a:latin typeface="Georgia"/>
              </a:defRPr>
            </a:pPr>
            <a:r>
              <a:t>A smaller prompt, not a different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D6259"/>
                </a:solidFill>
                <a:latin typeface="Calibri"/>
              </a:defRPr>
            </a:pPr>
            <a:r>
              <a:t>COFFEE CAPSULE OPTIMIZER  |  Part 2; token optimization (wiki page 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4593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30251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3392"/>
            <a:ext cx="338328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94560"/>
            <a:ext cx="294436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B65D35"/>
                </a:solidFill>
                <a:latin typeface="Calibri"/>
              </a:defRPr>
            </a:pPr>
            <a:r>
              <a:t>6,774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054096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0251F"/>
                </a:solidFill>
                <a:latin typeface="Calibri"/>
              </a:defRPr>
            </a:pPr>
            <a:r>
              <a:t>Input tokens 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666744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D6259"/>
                </a:solidFill>
                <a:latin typeface="Calibri"/>
              </a:defRPr>
            </a:pPr>
            <a:r>
              <a:t>Full narration payload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93392"/>
            <a:ext cx="3383280" cy="2331720"/>
          </a:xfrm>
          <a:prstGeom prst="roundRect">
            <a:avLst>
              <a:gd name="adj" fmla="val 12000"/>
            </a:avLst>
          </a:prstGeom>
          <a:solidFill>
            <a:srgbClr val="DA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2194560"/>
            <a:ext cx="294436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38634B"/>
                </a:solidFill>
                <a:latin typeface="Calibri"/>
              </a:defRPr>
            </a:pPr>
            <a:r>
              <a:t>806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3054096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0251F"/>
                </a:solidFill>
                <a:latin typeface="Calibri"/>
              </a:defRPr>
            </a:pPr>
            <a:r>
              <a:t>Input tokens 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3666744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D6259"/>
                </a:solidFill>
                <a:latin typeface="Calibri"/>
              </a:defRPr>
            </a:pPr>
            <a:r>
              <a:t>Compact narration payload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993392"/>
            <a:ext cx="3749039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2194560"/>
            <a:ext cx="331012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38634B"/>
                </a:solidFill>
                <a:latin typeface="Calibri"/>
              </a:defRPr>
            </a:pPr>
            <a:r>
              <a:t>88.1%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3054096"/>
            <a:ext cx="331012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0251F"/>
                </a:solidFill>
                <a:latin typeface="Calibri"/>
              </a:defRPr>
            </a:pPr>
            <a:r>
              <a:t>Input-token reduction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3666744"/>
            <a:ext cx="331012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D6259"/>
                </a:solidFill>
                <a:latin typeface="Calibri"/>
              </a:defRPr>
            </a:pPr>
            <a:r>
              <a:t>5,968 fewer tokens each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634B"/>
                </a:solidFill>
                <a:latin typeface="Calibri"/>
              </a:defRPr>
            </a:pPr>
            <a:r>
              <a:t>DETERMINISTIC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30251F"/>
                </a:solidFill>
                <a:latin typeface="Calibri"/>
              </a:defRPr>
            </a:pPr>
            <a:r>
              <a:t>Calculates the schedule and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634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B65D35"/>
                </a:solidFill>
                <a:latin typeface="Calibri"/>
              </a:defRPr>
            </a:pPr>
            <a:r>
              <a:t>LLM NARRATOR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74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30251F"/>
                </a:solidFill>
                <a:latin typeface="Calibri"/>
              </a:defRPr>
            </a:pPr>
            <a:r>
              <a:t>Explains the computed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634B"/>
                </a:solidFill>
                <a:latin typeface="Calibri"/>
              </a:defRPr>
            </a:pPr>
            <a:r>
              <a:t>ILLUSTRATIVE PRICES | USD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30251F"/>
                </a:solidFill>
                <a:latin typeface="Georgia"/>
              </a:defRPr>
            </a:pPr>
            <a:r>
              <a:t>Budget or premium changes narration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D6259"/>
                </a:solidFill>
                <a:latin typeface="Calibri"/>
              </a:defRPr>
            </a:pPr>
            <a:r>
              <a:t>COFFEE CAPSULE OPTIMIZER  |  Part 2, narrator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4593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30251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466344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84248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Narration input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9" y="1874519"/>
            <a:ext cx="320040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984248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Budget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874519"/>
            <a:ext cx="320040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984248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Premium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04872"/>
            <a:ext cx="466344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23744"/>
            <a:ext cx="438912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Price / 1M input tokens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79" y="2404872"/>
            <a:ext cx="32004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523744"/>
            <a:ext cx="29260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$0.15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404872"/>
            <a:ext cx="32004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523744"/>
            <a:ext cx="29260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634B"/>
                </a:solidFill>
                <a:latin typeface="Calibri"/>
              </a:defRPr>
            </a:pPr>
            <a:r>
              <a:t>$3.00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79"/>
            <a:ext cx="4663440" cy="521207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44951"/>
            <a:ext cx="438912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Before Darwin /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79" y="2926079"/>
            <a:ext cx="3200400" cy="521207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3044951"/>
            <a:ext cx="29260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$0.0010161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926079"/>
            <a:ext cx="3200400" cy="521207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3044951"/>
            <a:ext cx="29260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634B"/>
                </a:solidFill>
                <a:latin typeface="Calibri"/>
              </a:defRPr>
            </a:pPr>
            <a:r>
              <a:t>$0.020322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47287"/>
            <a:ext cx="466344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66159"/>
            <a:ext cx="438912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After Darwin / run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79" y="3447287"/>
            <a:ext cx="32004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3566159"/>
            <a:ext cx="29260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$0.0001209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447287"/>
            <a:ext cx="32004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3566159"/>
            <a:ext cx="29260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634B"/>
                </a:solidFill>
                <a:latin typeface="Calibri"/>
              </a:defRPr>
            </a:pPr>
            <a:r>
              <a:t>$0.002418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68496"/>
            <a:ext cx="4663440" cy="521207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087368"/>
            <a:ext cx="438912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Saving / run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79" y="3968496"/>
            <a:ext cx="3200400" cy="521207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4087368"/>
            <a:ext cx="29260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$0.0008952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3968496"/>
            <a:ext cx="3200400" cy="521207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4087368"/>
            <a:ext cx="29260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634B"/>
                </a:solidFill>
                <a:latin typeface="Calibri"/>
              </a:defRPr>
            </a:pPr>
            <a:r>
              <a:t>$0.017904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89704"/>
            <a:ext cx="466344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608576"/>
            <a:ext cx="438912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Saving / 10,000 runs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79" y="4489704"/>
            <a:ext cx="32004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4608576"/>
            <a:ext cx="29260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251F"/>
                </a:solidFill>
                <a:latin typeface="Calibri"/>
              </a:defRPr>
            </a:pPr>
            <a:r>
              <a:t>$8.95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4489704"/>
            <a:ext cx="32004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4608576"/>
            <a:ext cx="29260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634B"/>
                </a:solidFill>
                <a:latin typeface="Calibri"/>
              </a:defRPr>
            </a:pPr>
            <a:r>
              <a:t>$179.04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468112"/>
            <a:ext cx="11064240" cy="576072"/>
          </a:xfrm>
          <a:prstGeom prst="roundRect">
            <a:avLst>
              <a:gd name="adj" fmla="val 12000"/>
            </a:avLst>
          </a:prstGeom>
          <a:solidFill>
            <a:srgbClr val="DA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577840"/>
            <a:ext cx="106619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634B"/>
                </a:solidFill>
                <a:latin typeface="Calibri"/>
              </a:defRPr>
            </a:pPr>
            <a:r>
              <a:t>Premium saves 20x more on input, but still costs more. Choose it for validated quality needs.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634B"/>
                </a:solidFill>
                <a:latin typeface="Calibri"/>
              </a:defRPr>
            </a:pPr>
            <a:r>
              <a:t>ILLUSTRATIVE | BOTH EXPERIMENTS COMBINED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30251F"/>
                </a:solidFill>
                <a:latin typeface="Georgia"/>
              </a:defRPr>
            </a:pPr>
            <a:r>
              <a:t>The investment is mostly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D6259"/>
                </a:solidFill>
                <a:latin typeface="Calibri"/>
              </a:defRPr>
            </a:pPr>
            <a:r>
              <a:t>COFFEE CAPSULE OPTIMIZER  |  Part 1, combined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4593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30251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384048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6800" b="1">
                <a:solidFill>
                  <a:srgbClr val="38634B"/>
                </a:solidFill>
                <a:latin typeface="Calibri"/>
              </a:defRPr>
            </a:pPr>
            <a:r>
              <a:t>$700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9544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30251F"/>
                </a:solidFill>
                <a:latin typeface="Calibri"/>
              </a:defRPr>
            </a:pPr>
            <a:r>
              <a:t>Combined one-time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1596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6D6259"/>
                </a:solidFill>
                <a:latin typeface="Calibri"/>
              </a:defRPr>
            </a:pPr>
            <a:r>
              <a:t>85.7% is engineering effort.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057400"/>
            <a:ext cx="484632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216712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Component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49840" y="2057400"/>
            <a:ext cx="146304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0" y="2167128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587752"/>
            <a:ext cx="48463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706624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8 engineering hours x $75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2587752"/>
            <a:ext cx="1463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0" y="2706624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$600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3319272"/>
            <a:ext cx="4846320" cy="731520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3438144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Warehouse-build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3319272"/>
            <a:ext cx="1463040" cy="731520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3438144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~$60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4050791"/>
            <a:ext cx="48463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4169663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Token-optimization 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4050791"/>
            <a:ext cx="1463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0" y="4169663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~$40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68112"/>
            <a:ext cx="11064240" cy="576072"/>
          </a:xfrm>
          <a:prstGeom prst="roundRect">
            <a:avLst>
              <a:gd name="adj" fmla="val 12000"/>
            </a:avLst>
          </a:prstGeom>
          <a:solidFill>
            <a:srgbClr val="DA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577840"/>
            <a:ext cx="106619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634B"/>
                </a:solidFill>
                <a:latin typeface="Calibri"/>
              </a:defRPr>
            </a:pPr>
            <a:r>
              <a:t>Darwin automates search; setup, review and validation are still budgeted.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634B"/>
                </a:solidFill>
                <a:latin typeface="Calibri"/>
              </a:defRPr>
            </a:pPr>
            <a:r>
              <a:t>ILLUSTRATIVE | EQUIVALENT VALIDATED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30251F"/>
                </a:solidFill>
                <a:latin typeface="Georgia"/>
              </a:defRPr>
            </a:pPr>
            <a:r>
              <a:t>Less manual effort is the main selling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D6259"/>
                </a:solidFill>
                <a:latin typeface="Calibri"/>
              </a:defRPr>
            </a:pPr>
            <a:r>
              <a:t>COFFEE CAPSULE OPTIMIZER  |  Part 1, manual vs. Darwin-assisted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4593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30251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0251F"/>
                </a:solidFill>
                <a:latin typeface="Calibri"/>
              </a:defRPr>
            </a:pPr>
            <a:r>
              <a:t>Manual optimization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6766560" cy="502920"/>
          </a:xfrm>
          <a:prstGeom prst="roundRect">
            <a:avLst>
              <a:gd name="adj" fmla="val 12000"/>
            </a:avLst>
          </a:prstGeom>
          <a:solidFill>
            <a:srgbClr val="B65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54096"/>
            <a:ext cx="7498079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65D35"/>
                </a:solidFill>
                <a:latin typeface="Calibri"/>
              </a:defRPr>
            </a:pPr>
            <a:r>
              <a:t>$3,000  |  40 engineering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0251F"/>
                </a:solidFill>
                <a:latin typeface="Calibri"/>
              </a:defRPr>
            </a:pPr>
            <a:r>
              <a:t>Darwin-assisted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51959"/>
            <a:ext cx="1578864" cy="502920"/>
          </a:xfrm>
          <a:prstGeom prst="roundRect">
            <a:avLst>
              <a:gd name="adj" fmla="val 12000"/>
            </a:avLst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791455"/>
            <a:ext cx="7498079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$700  |  8 hours + search spend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76272"/>
            <a:ext cx="3383280" cy="3017520"/>
          </a:xfrm>
          <a:prstGeom prst="roundRect">
            <a:avLst>
              <a:gd name="adj" fmla="val 12000"/>
            </a:avLst>
          </a:prstGeom>
          <a:solidFill>
            <a:srgbClr val="DA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2423160"/>
            <a:ext cx="288950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500" b="1">
                <a:solidFill>
                  <a:srgbClr val="38634B"/>
                </a:solidFill>
                <a:latin typeface="Calibri"/>
              </a:defRPr>
            </a:pPr>
            <a:r>
              <a:t>32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3255264"/>
            <a:ext cx="28895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8634B"/>
                </a:solidFill>
                <a:latin typeface="Calibri"/>
              </a:defRPr>
            </a:pPr>
            <a:r>
              <a:t>engineering effort avoided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4014215"/>
            <a:ext cx="288950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38634B"/>
                </a:solidFill>
                <a:latin typeface="Calibri"/>
              </a:defRPr>
            </a:pPr>
            <a:r>
              <a:t>$2,300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4663440"/>
            <a:ext cx="2889504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8634B"/>
                </a:solidFill>
                <a:latin typeface="Calibri"/>
              </a:defRPr>
            </a:pPr>
            <a:r>
              <a:t>lower cost / 76.7%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68112"/>
            <a:ext cx="11064240" cy="576072"/>
          </a:xfrm>
          <a:prstGeom prst="roundRect">
            <a:avLst>
              <a:gd name="adj" fmla="val 12000"/>
            </a:avLst>
          </a:prstGeom>
          <a:solidFill>
            <a:srgbClr val="DA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577840"/>
            <a:ext cx="106619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634B"/>
                </a:solidFill>
                <a:latin typeface="Calibri"/>
              </a:defRPr>
            </a:pPr>
            <a:r>
              <a:t>Planning scenario, not measured labor savings. Manual tooling and compute are excluded.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634B"/>
                </a:solidFill>
                <a:latin typeface="Calibri"/>
              </a:defRPr>
            </a:pPr>
            <a:r>
              <a:t>MODELED | 5,000 BUILDS + 10,000 AGENT RUNS /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30251F"/>
                </a:solidFill>
                <a:latin typeface="Georgia"/>
              </a:defRPr>
            </a:pPr>
            <a:r>
              <a:t>Year-one ROI depends on useful time released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D6259"/>
                </a:solidFill>
                <a:latin typeface="Calibri"/>
              </a:defRPr>
            </a:pPr>
            <a:r>
              <a:t>COFFEE CAPSULE OPTIMIZER  |  Part 4, engineering-inclusive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4593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30251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56231"/>
            <a:ext cx="466344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Annual economics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9" y="1856231"/>
            <a:ext cx="320040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965960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Premium narrator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856231"/>
            <a:ext cx="320040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965960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Budget narrator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86584"/>
            <a:ext cx="4663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05456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Build wait-time 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79" y="2386584"/>
            <a:ext cx="32004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50545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$783.96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386584"/>
            <a:ext cx="32004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50545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$783.96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71215"/>
            <a:ext cx="4663440" cy="484632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90087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Narration input savings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79" y="2871215"/>
            <a:ext cx="3200400" cy="484632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990087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$179.04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871215"/>
            <a:ext cx="3200400" cy="484632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2990087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$8.95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55848"/>
            <a:ext cx="4663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7472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Total annual benefit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79" y="3355848"/>
            <a:ext cx="32004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34747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$963.00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355848"/>
            <a:ext cx="32004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34747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$792.91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40480"/>
            <a:ext cx="4663440" cy="484632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95935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Less one-time investment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79" y="3840480"/>
            <a:ext cx="3200400" cy="484632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395935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$700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3840480"/>
            <a:ext cx="3200400" cy="484632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95935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$700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25112"/>
            <a:ext cx="4663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4398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Net benefit / year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79" y="4325112"/>
            <a:ext cx="32004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444398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+$263.00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4325112"/>
            <a:ext cx="32004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444398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+$92.91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148072"/>
            <a:ext cx="11064240" cy="841248"/>
          </a:xfrm>
          <a:prstGeom prst="roundRect">
            <a:avLst>
              <a:gd name="adj" fmla="val 12000"/>
            </a:avLst>
          </a:prstGeom>
          <a:solidFill>
            <a:srgbClr val="DA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5376672"/>
            <a:ext cx="52578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8634B"/>
                </a:solidFill>
                <a:latin typeface="Calibri"/>
              </a:defRPr>
            </a:pPr>
            <a:r>
              <a:t>PREMIUM   +37.6% ROI  |  8.7 months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54496" y="5376672"/>
            <a:ext cx="51663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8634B"/>
                </a:solidFill>
                <a:latin typeface="Calibri"/>
              </a:defRPr>
            </a:pPr>
            <a:r>
              <a:t>BUDGET   +13.3% ROI  |  10.6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634B"/>
                </a:solidFill>
                <a:latin typeface="Calibri"/>
              </a:defRPr>
            </a:pPr>
            <a:r>
              <a:t>DECISION CAVEAT | ALTERNATIVE VALUATION 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30251F"/>
                </a:solidFill>
                <a:latin typeface="Georgia"/>
              </a:defRPr>
            </a:pPr>
            <a:r>
              <a:t>Economic value is not the same as cash saved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D6259"/>
                </a:solidFill>
                <a:latin typeface="Calibri"/>
              </a:defRPr>
            </a:pPr>
            <a:r>
              <a:t>COFFEE CAPSULE OPTIMIZER  |  Parts 2 and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4593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30251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75688"/>
            <a:ext cx="53949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276856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38634B"/>
                </a:solidFill>
                <a:latin typeface="Calibri"/>
              </a:defRPr>
            </a:pPr>
            <a:r>
              <a:t>$181.13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136391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0251F"/>
                </a:solidFill>
                <a:latin typeface="Calibri"/>
              </a:defRPr>
            </a:pPr>
            <a:r>
              <a:t>Premium: compute +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749039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D6259"/>
                </a:solidFill>
                <a:latin typeface="Calibri"/>
              </a:defRPr>
            </a:pPr>
            <a:r>
              <a:t>Annual savings with unattended builds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75688"/>
            <a:ext cx="53949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276856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38634B"/>
                </a:solidFill>
                <a:latin typeface="Calibri"/>
              </a:defRPr>
            </a:pPr>
            <a:r>
              <a:t>$11.04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3136391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0251F"/>
                </a:solidFill>
                <a:latin typeface="Calibri"/>
              </a:defRPr>
            </a:pPr>
            <a:r>
              <a:t>Budget: compute + 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3749039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D6259"/>
                </a:solidFill>
                <a:latin typeface="Calibri"/>
              </a:defRPr>
            </a:pPr>
            <a:r>
              <a:t>Annual savings with unattended builds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B65D35"/>
                </a:solidFill>
                <a:latin typeface="Calibri"/>
              </a:defRPr>
            </a:pPr>
            <a:r>
              <a:t>Neither covers the $700 investment in year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68112"/>
            <a:ext cx="11064240" cy="576072"/>
          </a:xfrm>
          <a:prstGeom prst="roundRect">
            <a:avLst>
              <a:gd name="adj" fmla="val 12000"/>
            </a:avLst>
          </a:prstGeom>
          <a:solidFill>
            <a:srgbClr val="DA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577840"/>
            <a:ext cx="106619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634B"/>
                </a:solidFill>
                <a:latin typeface="Calibri"/>
              </a:defRPr>
            </a:pPr>
            <a:r>
              <a:t>An always-on, fixed-price machine can finish earlier without reducing its bill.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634B"/>
                </a:solidFill>
                <a:latin typeface="Calibri"/>
              </a:defRPr>
            </a:pPr>
            <a:r>
              <a:t>ACCOUNTING ALLOCATION | FIRST 10,000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30251F"/>
                </a:solidFill>
                <a:latin typeface="Georgia"/>
              </a:defRPr>
            </a:pPr>
            <a:r>
              <a:t>The investment adds 7 cents per allocated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D6259"/>
                </a:solidFill>
                <a:latin typeface="Calibri"/>
              </a:defRPr>
            </a:pPr>
            <a:r>
              <a:t>COFFEE CAPSULE OPTIMIZER  |  Part 4, allocating the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4593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30251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4572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7600" b="1">
                <a:solidFill>
                  <a:srgbClr val="38634B"/>
                </a:solidFill>
                <a:latin typeface="Calibri"/>
              </a:defRPr>
            </a:pPr>
            <a:r>
              <a:t>$0.07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55848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30251F"/>
                </a:solidFill>
                <a:latin typeface="Calibri"/>
              </a:defRPr>
            </a:pPr>
            <a:r>
              <a:t>$700 / 10,000 future runs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2084831"/>
            <a:ext cx="5623560" cy="1170432"/>
          </a:xfrm>
          <a:prstGeom prst="roundRect">
            <a:avLst>
              <a:gd name="adj" fmla="val 12000"/>
            </a:avLst>
          </a:prstGeom>
          <a:solidFill>
            <a:srgbClr val="DA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2432304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38634B"/>
                </a:solidFill>
                <a:latin typeface="Calibri"/>
              </a:defRPr>
            </a:pPr>
            <a:r>
              <a:t>$0.06 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3584448"/>
            <a:ext cx="56235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3941063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B65D35"/>
                </a:solidFill>
                <a:latin typeface="Calibri"/>
              </a:defRPr>
            </a:pPr>
            <a:r>
              <a:t>$0.01  Darwin API + compute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468112"/>
            <a:ext cx="11064240" cy="576072"/>
          </a:xfrm>
          <a:prstGeom prst="roundRect">
            <a:avLst>
              <a:gd name="adj" fmla="val 12000"/>
            </a:avLst>
          </a:prstGeom>
          <a:solidFill>
            <a:srgbClr val="DA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577840"/>
            <a:ext cx="106619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634B"/>
                </a:solidFill>
                <a:latin typeface="Calibri"/>
              </a:defRPr>
            </a:pPr>
            <a:r>
              <a:t>One-time cost allocation, not the run price. Add actual post-Darwin operating costs separately.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2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5AF64"/>
                </a:solidFill>
                <a:latin typeface="Calibri"/>
              </a:defRPr>
            </a:pPr>
            <a:r>
              <a:t>EXECUTIVE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7F2E9"/>
                </a:solidFill>
                <a:latin typeface="Georgia"/>
              </a:defRPr>
            </a:pPr>
            <a:r>
              <a:t>Use Darwin where experimentation is expensive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E8DBCA"/>
                </a:solidFill>
                <a:latin typeface="Calibri"/>
              </a:defRPr>
            </a:pPr>
            <a:r>
              <a:t>COFFEE CAPSULE OPTIMIZER  |  Executive summary;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4593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F7F2E9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31136"/>
            <a:ext cx="3502152" cy="2240280"/>
          </a:xfrm>
          <a:prstGeom prst="roundRect">
            <a:avLst>
              <a:gd name="adj" fmla="val 12000"/>
            </a:avLst>
          </a:prstGeom>
          <a:solidFill>
            <a:srgbClr val="F7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43230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B65D3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9067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634B"/>
                </a:solidFill>
                <a:latin typeface="Calibri"/>
              </a:defRPr>
            </a:pPr>
            <a:r>
              <a:t>High manual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666744"/>
            <a:ext cx="301752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Profiling and experiments take substantial effort.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231136"/>
            <a:ext cx="3502152" cy="2240280"/>
          </a:xfrm>
          <a:prstGeom prst="roundRect">
            <a:avLst>
              <a:gd name="adj" fmla="val 12000"/>
            </a:avLst>
          </a:prstGeom>
          <a:solidFill>
            <a:srgbClr val="F7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43230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B65D3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309067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634B"/>
                </a:solidFill>
                <a:latin typeface="Calibri"/>
              </a:defRPr>
            </a:pPr>
            <a:r>
              <a:t>Measurable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3666744"/>
            <a:ext cx="301752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Benchmarks and output checks validate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2231136"/>
            <a:ext cx="3502152" cy="2240280"/>
          </a:xfrm>
          <a:prstGeom prst="roundRect">
            <a:avLst>
              <a:gd name="adj" fmla="val 12000"/>
            </a:avLst>
          </a:prstGeom>
          <a:solidFill>
            <a:srgbClr val="F7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43230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B65D3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309067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634B"/>
                </a:solidFill>
                <a:latin typeface="Calibri"/>
              </a:defRPr>
            </a:pPr>
            <a:r>
              <a:t>Repeated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66744"/>
            <a:ext cx="301752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The optimized code will run often enough to justify the investment.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28616"/>
            <a:ext cx="1097280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7F2E9"/>
                </a:solidFill>
                <a:latin typeface="Calibri"/>
              </a:defRPr>
            </a:pPr>
            <a:r>
              <a:t>An optimization accelerator.</a:t>
            </a:r>
          </a:p>
          <a:p>
            <a:pPr>
              <a:spcAft>
                <a:spcPts val="800"/>
              </a:spcAft>
              <a:defRPr sz="2500" b="1">
                <a:solidFill>
                  <a:srgbClr val="F7F2E9"/>
                </a:solidFill>
                <a:latin typeface="Calibri"/>
              </a:defRPr>
            </a:pPr>
            <a:r>
              <a:t>Not a replacement for engineers or a guarantee of savings.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634B"/>
                </a:solidFill>
                <a:latin typeface="Calibri"/>
              </a:defRPr>
            </a:pPr>
            <a:r>
              <a:t>REFERENCE | EXCLUDES ENGINEERING WHERE LABELED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30251F"/>
                </a:solidFill>
                <a:latin typeface="Georgia"/>
              </a:defRPr>
            </a:pPr>
            <a:r>
              <a:t>Appendix: search spend and narrow payback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D6259"/>
                </a:solidFill>
                <a:latin typeface="Calibri"/>
              </a:defRPr>
            </a:pPr>
            <a:r>
              <a:t>COFFEE CAPSULE OPTIMIZER  |  Parts 1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4593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30251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38528"/>
            <a:ext cx="457200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48256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Warehouse search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938528"/>
            <a:ext cx="182880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2048256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Assumed spend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45720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87752"/>
            <a:ext cx="42976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Fresh input: 3.4M x $3/M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468880"/>
            <a:ext cx="18288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587752"/>
            <a:ext cx="15544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$10.20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90088"/>
            <a:ext cx="4572000" cy="521207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42976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Cached input: 83.2M x $0.30/M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990088"/>
            <a:ext cx="1828800" cy="521207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3108960"/>
            <a:ext cx="15544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$24.96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11296"/>
            <a:ext cx="45720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30168"/>
            <a:ext cx="42976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Output: 1.45M x $15/M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3511296"/>
            <a:ext cx="18288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3630168"/>
            <a:ext cx="15544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$21.75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32504"/>
            <a:ext cx="4572000" cy="521207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51376"/>
            <a:ext cx="42976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Total modeled LLM spend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4032504"/>
            <a:ext cx="1828800" cy="521207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7800" y="4151376"/>
            <a:ext cx="1554480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$56.91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938528"/>
            <a:ext cx="4297680" cy="3136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5512" y="219456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634B"/>
                </a:solidFill>
                <a:latin typeface="Calibri"/>
              </a:defRPr>
            </a:pPr>
            <a:r>
              <a:t>API + compute payback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2999232"/>
            <a:ext cx="3822191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~382 builds: developer-time basis</a:t>
            </a:r>
          </a:p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~143,000 builds: compute basis</a:t>
            </a:r>
          </a:p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~2,235 runs: premium narration</a:t>
            </a:r>
          </a:p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~44,700 runs: budget narration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68112"/>
            <a:ext cx="11064240" cy="576072"/>
          </a:xfrm>
          <a:prstGeom prst="roundRect">
            <a:avLst>
              <a:gd name="adj" fmla="val 12000"/>
            </a:avLst>
          </a:prstGeom>
          <a:solidFill>
            <a:srgbClr val="DA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577840"/>
            <a:ext cx="106619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634B"/>
                </a:solidFill>
                <a:latin typeface="Calibri"/>
              </a:defRPr>
            </a:pPr>
            <a:r>
              <a:t>Do not confuse these narrow break-even figures with the $700 engineering-inclusive 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634B"/>
                </a:solidFill>
                <a:latin typeface="Calibri"/>
              </a:defRPr>
            </a:pPr>
            <a:r>
              <a:t>REFERENCE | REPLACE ASSUMPTIONS WITH ACTUALS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30251F"/>
                </a:solidFill>
                <a:latin typeface="Georgia"/>
              </a:defRPr>
            </a:pPr>
            <a:r>
              <a:t>Appendix: assumptions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4593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D6259"/>
                </a:solidFill>
                <a:latin typeface="Calibri"/>
              </a:defRPr>
            </a:pPr>
            <a:r>
              <a:t>COFFEE CAPSULE OPTIMIZER  |  Source: wiki/18-ROI-Of-Running-Darwin.md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4593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30251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640080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6126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Assumption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920240"/>
            <a:ext cx="4663440" cy="530352"/>
          </a:xfrm>
          <a:prstGeom prst="rect">
            <a:avLst/>
          </a:prstGeom>
          <a:solidFill>
            <a:srgbClr val="386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029968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Value used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50592"/>
            <a:ext cx="6400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69464"/>
            <a:ext cx="612648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Engineering rate / Darwin effort / manual effort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2450592"/>
            <a:ext cx="466344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569464"/>
            <a:ext cx="438912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$75 per hour / 8 hr / 40 hr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90088"/>
            <a:ext cx="6400800" cy="539496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612648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Annual warehouse builds / agent runs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2990088"/>
            <a:ext cx="4663440" cy="539496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3108960"/>
            <a:ext cx="438912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5,000 / 10,000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29584"/>
            <a:ext cx="6400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48456"/>
            <a:ext cx="612648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Narrator input price: budget / premium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3529584"/>
            <a:ext cx="466344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3648456"/>
            <a:ext cx="438912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$0.15 / $3.00 per million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69080"/>
            <a:ext cx="6400800" cy="539496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87952"/>
            <a:ext cx="612648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Compute price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4069080"/>
            <a:ext cx="4663440" cy="539496"/>
          </a:xfrm>
          <a:prstGeom prst="rect">
            <a:avLst/>
          </a:prstGeom>
          <a:solidFill>
            <a:srgbClr val="E8D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187952"/>
            <a:ext cx="438912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634B"/>
                </a:solidFill>
                <a:latin typeface="Calibri"/>
              </a:defRPr>
            </a:pPr>
            <a:r>
              <a:t>$0.20 per vCPU-hour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7823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8634B"/>
                </a:solidFill>
                <a:latin typeface="Calibri"/>
              </a:defRPr>
            </a:pPr>
            <a:r>
              <a:t>Evidence and full calculations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358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251F"/>
                </a:solidFill>
                <a:latin typeface="Calibri"/>
              </a:defRPr>
            </a:pPr>
            <a:r>
              <a:t>Wiki page 18: ROI model    |    Page 12: SQL build benchmark    |    Page 11: token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Darwin: Engineering leverage, measurable returns</dc:title>
  <dc:subject>Coffee capsule optimizer - executive ROI briefing</dc:subject>
  <dc:creator>Coffee Capsules Production Optimizer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